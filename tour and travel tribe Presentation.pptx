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notesMasterIdLst>
    <p:notesMasterId r:id="rId23"/>
  </p:notesMasterIdLst>
  <p:sldIdLst>
    <p:sldId id="265" r:id="rId2"/>
    <p:sldId id="256" r:id="rId3"/>
    <p:sldId id="257" r:id="rId4"/>
    <p:sldId id="260" r:id="rId5"/>
    <p:sldId id="258" r:id="rId6"/>
    <p:sldId id="276" r:id="rId7"/>
    <p:sldId id="277" r:id="rId8"/>
    <p:sldId id="278" r:id="rId9"/>
    <p:sldId id="279" r:id="rId10"/>
    <p:sldId id="259" r:id="rId11"/>
    <p:sldId id="280" r:id="rId12"/>
    <p:sldId id="282" r:id="rId13"/>
    <p:sldId id="283" r:id="rId14"/>
    <p:sldId id="284" r:id="rId15"/>
    <p:sldId id="287" r:id="rId16"/>
    <p:sldId id="285" r:id="rId17"/>
    <p:sldId id="286" r:id="rId18"/>
    <p:sldId id="288" r:id="rId19"/>
    <p:sldId id="264" r:id="rId20"/>
    <p:sldId id="263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6E1F13-138A-4D56-8C18-772841216379}">
          <p14:sldIdLst>
            <p14:sldId id="265"/>
            <p14:sldId id="256"/>
            <p14:sldId id="257"/>
            <p14:sldId id="260"/>
            <p14:sldId id="258"/>
          </p14:sldIdLst>
        </p14:section>
        <p14:section name="Untitled Section" id="{663F25AD-F106-4D48-9F83-CD31D5200342}">
          <p14:sldIdLst>
            <p14:sldId id="276"/>
            <p14:sldId id="277"/>
            <p14:sldId id="278"/>
            <p14:sldId id="279"/>
            <p14:sldId id="259"/>
            <p14:sldId id="280"/>
            <p14:sldId id="282"/>
            <p14:sldId id="283"/>
            <p14:sldId id="284"/>
            <p14:sldId id="287"/>
            <p14:sldId id="285"/>
            <p14:sldId id="286"/>
            <p14:sldId id="288"/>
            <p14:sldId id="264"/>
            <p14:sldId id="263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69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87998-03CE-497D-B81F-B5B0E1038512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81027-12CC-4D24-B848-4DF9CAB0BB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9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441C6D97-5901-4413-9F1A-579E90769CA2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8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06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2BA27-8841-44A6-AEF0-F18240828B57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92E5-726F-4AA8-97CE-CE039FFE2EEF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18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9CAB-3352-416F-8603-2914BCB39C98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20106-BB3C-4B5E-9559-A97FC218CF3D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0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AF37-48D4-4DD8-B33A-2300BA14FA57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74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D0D1-D914-4813-956D-82A72DAD2B59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18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896D-04C1-483D-8E3D-C734DE6A6DEA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1379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824539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00637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550293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610347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26046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D8B5-DFC4-4FC3-9B80-2E687C9C6563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5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323C-ABCC-4B90-A537-CF518B298F8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4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F703D45-B119-44BE-A951-E8E43C13DFD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D6522A0-357C-442A-885E-F6AB171250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66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WitVuW2D1o&amp;t=4s" TargetMode="External"/><Relationship Id="rId2" Type="http://schemas.openxmlformats.org/officeDocument/2006/relationships/hyperlink" Target="http://www.githu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javatpoint.com/" TargetMode="External"/><Relationship Id="rId5" Type="http://schemas.openxmlformats.org/officeDocument/2006/relationships/hyperlink" Target="http://www.google.com/" TargetMode="External"/><Relationship Id="rId4" Type="http://schemas.openxmlformats.org/officeDocument/2006/relationships/hyperlink" Target="http://www.stackoverflow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96130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 and Travel Tribe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3300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No.02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652" y="3778668"/>
            <a:ext cx="377385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of:-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Sonika Bharadwaj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(Asst. Professor)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CEA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 University, Mathura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4495" y="3778668"/>
            <a:ext cx="4015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Sanjay Chahar(2384200184)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Singh (2384200215)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Rajput(2384200249)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Kumar(2384200039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Dhruv Pandey(2384200062)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&amp;TEAM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7" y="290456"/>
            <a:ext cx="1757964" cy="249917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C2E4-D893-4AD8-8734-3F8D58BF2C09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9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164" y="292608"/>
            <a:ext cx="12192000" cy="839278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2186" y="1039449"/>
            <a:ext cx="9911750" cy="5184475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SYSTEM DESIGN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5A547-5967-4EA9-BD7C-13F7A775E625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2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77556E-17 -1.85185E-6 L 2.77556E-1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77556E-17 3.7037E-7 L 2.77556E-17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79167E-6 4.81481E-6 L 4.79167E-6 -0.07223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29167E-6 -2.22222E-6 L 2.29167E-6 -0.07222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54167E-6 7.40741E-7 L -3.54167E-6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3.7037E-6 L -8.33333E-7 -0.07223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3.7037E-6 L -8.33333E-7 -0.07223 " pathEditMode="relative" rAng="0" ptsTypes="AA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3.7037E-6 L -8.33333E-7 -0.07223 " pathEditMode="relative" rAng="0" ptsTypes="AA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3.33333E-6 L -8.33333E-7 -0.07222 " pathEditMode="relative" rAng="0" ptsTypes="AA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91667E-6 1.11111E-6 L -2.91667E-6 -0.07222 " pathEditMode="relative" rAng="0" ptsTypes="AA">
                                      <p:cBhvr>
                                        <p:cTn id="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694712" y="1163782"/>
            <a:ext cx="45719" cy="484909"/>
          </a:xfrm>
        </p:spPr>
        <p:txBody>
          <a:bodyPr anchor="ctr">
            <a:normAutofit fontScale="90000"/>
          </a:bodyPr>
          <a:lstStyle/>
          <a:p>
            <a:endParaRPr 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49" y="2507673"/>
            <a:ext cx="10486773" cy="4570845"/>
          </a:xfrm>
        </p:spPr>
        <p:txBody>
          <a:bodyPr anchor="t">
            <a:normAutofit/>
          </a:bodyPr>
          <a:lstStyle/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Roboto" panose="020B0604020202020204" pitchFamily="2" charset="0"/>
              </a:rPr>
              <a:t> </a:t>
            </a:r>
            <a:r>
              <a:rPr lang="en-US" sz="2800" b="0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B0604020202020204" pitchFamily="2" charset="0"/>
              </a:rPr>
              <a:t>Tour and Travel Tribe  is a software-based Project/Application in java. </a:t>
            </a:r>
          </a:p>
          <a:p>
            <a:pPr marL="203200" marR="77470" indent="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None/>
            </a:pPr>
            <a:endParaRPr lang="en-US" sz="28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B0604020202020204" pitchFamily="2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r>
              <a:rPr lang="en-US" sz="2800" b="0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The main purpose of this project is How to manage the booking of hotels, packages and check sites</a:t>
            </a:r>
          </a:p>
          <a:p>
            <a:pPr marL="203200" marR="77470" indent="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None/>
            </a:pPr>
            <a:endParaRPr lang="en-US" sz="28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r>
              <a:rPr lang="en-US" sz="2800" b="0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B0604020202020204" pitchFamily="2" charset="0"/>
              </a:rPr>
              <a:t>It makes all operations of the tourist easy and accurate</a:t>
            </a:r>
            <a:endParaRPr lang="en-US" sz="28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203200" marR="77470" indent="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None/>
            </a:pPr>
            <a:endParaRPr lang="en-US" sz="1400" b="0" i="0" dirty="0">
              <a:solidFill>
                <a:srgbClr val="FFFFFF"/>
              </a:solidFill>
              <a:effectLst/>
              <a:latin typeface="Roboto" panose="020B0604020202020204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63825" y="6041362"/>
            <a:ext cx="9119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919169D-1774-4EA1-AA55-9869DD725FC8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1/31/2025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62553" y="6041362"/>
            <a:ext cx="566186" cy="365125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fld id="{5D6522A0-357C-442A-885E-F6AB171250C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Graphic 9" descr="Laptop">
            <a:extLst>
              <a:ext uri="{FF2B5EF4-FFF2-40B4-BE49-F238E27FC236}">
                <a16:creationId xmlns:a16="http://schemas.microsoft.com/office/drawing/2014/main" id="{497B73C4-3E99-9E9E-AF0A-E6F2C815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5764" y="4268637"/>
            <a:ext cx="2589363" cy="25893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29BA5E-E774-4979-88F1-544BC910FD2F}"/>
              </a:ext>
            </a:extLst>
          </p:cNvPr>
          <p:cNvSpPr/>
          <p:nvPr/>
        </p:nvSpPr>
        <p:spPr>
          <a:xfrm>
            <a:off x="1346164" y="858982"/>
            <a:ext cx="8229600" cy="7897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Introduction</a:t>
            </a:r>
            <a:endParaRPr lang="en-IN" sz="480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14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4.81481E-6 L 8.33333E-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72246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655" y="2448935"/>
            <a:ext cx="10515600" cy="3942721"/>
          </a:xfrm>
        </p:spPr>
        <p:txBody>
          <a:bodyPr>
            <a:normAutofit lnSpcReduction="10000"/>
          </a:bodyPr>
          <a:lstStyle/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r>
              <a:rPr lang="en-US" sz="3200" b="0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The main purpose of this project is to manage the booking of hotels, packages and check sites</a:t>
            </a: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This application will help to accessing the information related to the travel.</a:t>
            </a: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The users can track the information related to their tours.</a:t>
            </a: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The travel agency information can also be obtained through this application.</a:t>
            </a: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Users</a:t>
            </a:r>
            <a:r>
              <a:rPr lang="en-US" sz="3200" spc="-20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don't</a:t>
            </a:r>
            <a:r>
              <a:rPr lang="en-US" sz="3200" spc="-5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have</a:t>
            </a:r>
            <a:r>
              <a:rPr lang="en-US" sz="3200" spc="-20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to</a:t>
            </a:r>
            <a:r>
              <a:rPr lang="en-US" sz="3200" spc="-25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visit to</a:t>
            </a:r>
            <a:r>
              <a:rPr lang="en-US" sz="3200" spc="-5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the</a:t>
            </a:r>
            <a:r>
              <a:rPr lang="en-US" sz="3200" spc="-20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office</a:t>
            </a:r>
            <a:r>
              <a:rPr lang="en-US" sz="3200" spc="-10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for</a:t>
            </a:r>
            <a:r>
              <a:rPr lang="en-US" sz="3200" spc="-10" dirty="0">
                <a:latin typeface="Times New Roman" panose="02020603050405020304" pitchFamily="18" charset="0"/>
                <a:ea typeface="Courier New" panose="02070309020205020404" pitchFamily="49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ourier New" panose="02070309020205020404" pitchFamily="49" charset="0"/>
              </a:rPr>
              <a:t>bill payment.</a:t>
            </a:r>
            <a:endParaRPr lang="en-IN" sz="3200" dirty="0">
              <a:latin typeface="Times New Roman" panose="02020603050405020304" pitchFamily="18" charset="0"/>
              <a:ea typeface="Courier New" panose="02070309020205020404" pitchFamily="49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endParaRPr lang="en-US" sz="2400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</a:endParaRPr>
          </a:p>
          <a:p>
            <a:pPr marL="203200" marR="77470" indent="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None/>
            </a:pP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</a:pPr>
            <a:endParaRPr lang="en-US" sz="2400" dirty="0">
              <a:effectLst/>
              <a:latin typeface="Times New Roman" panose="02020603050405020304" pitchFamily="18" charset="0"/>
              <a:ea typeface="Courier New" panose="02070309020205020404" pitchFamily="49" charset="0"/>
            </a:endParaRPr>
          </a:p>
          <a:p>
            <a:pPr marL="203200" marR="77470" indent="228600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</a:pPr>
            <a:endParaRPr lang="en-US" sz="1800" b="0" i="0" dirty="0">
              <a:solidFill>
                <a:schemeClr val="accent6">
                  <a:lumMod val="7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C830C-4697-4737-AA98-C4FACD55B6DE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4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88636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447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203200" marR="76200" indent="457200" algn="just">
              <a:lnSpc>
                <a:spcPct val="107000"/>
              </a:lnSpc>
              <a:spcBef>
                <a:spcPts val="170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We, the owners of our project, respect all customers and make them happy with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our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service.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The</a:t>
            </a:r>
            <a:r>
              <a:rPr lang="en-US" sz="3200" spc="-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en-US" sz="3200" spc="-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aim</a:t>
            </a:r>
            <a:r>
              <a:rPr lang="en-US" sz="3200" spc="-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3200" spc="-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our</a:t>
            </a:r>
            <a:r>
              <a:rPr lang="en-US" sz="3200" spc="-9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project</a:t>
            </a:r>
            <a:r>
              <a:rPr lang="en-US" sz="3200" spc="-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3200" spc="-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3200" spc="-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satisfy</a:t>
            </a:r>
            <a:r>
              <a:rPr lang="en-US" sz="3200" spc="-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3200" spc="-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3200" spc="-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saving</a:t>
            </a:r>
            <a:r>
              <a:rPr lang="en-US" sz="3200" spc="-4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3200" spc="-8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3200" spc="-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3200" spc="-9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payment</a:t>
            </a:r>
            <a:r>
              <a:rPr lang="en-US" sz="3200" spc="-34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process, maintaining records, and allowing the customer to view his/her records and</a:t>
            </a:r>
            <a:r>
              <a:rPr lang="en-US" sz="32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permitting them</a:t>
            </a:r>
            <a:r>
              <a:rPr lang="en-US" sz="3200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32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update</a:t>
            </a:r>
            <a:r>
              <a:rPr lang="en-US" sz="3200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320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details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03200" marR="73660" indent="0" algn="just">
              <a:lnSpc>
                <a:spcPct val="107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17500" marR="0" indent="0" algn="just"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C4EF-A566-474D-B5D9-64C8FED88864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86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139" y="2218170"/>
            <a:ext cx="10515600" cy="38955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improved our home page, as it is the main thing which attracts all user.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provide more facilities as per the user requirements.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single website is completed forever firstly because there is always something new requirements day by day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B139-FB4D-4F11-A8B0-8677EDE487AE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036B-1C2A-430D-B71D-23867DA2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gathering Analysis</a:t>
            </a:r>
            <a:br>
              <a:rPr lang="en-US" dirty="0"/>
            </a:br>
            <a:r>
              <a:rPr lang="en-US" dirty="0"/>
              <a:t>1.</a:t>
            </a:r>
            <a:r>
              <a:rPr lang="en-US" sz="2800" dirty="0"/>
              <a:t>Requirement Report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6DD14-7F98-4647-9A02-7882395A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2" y="2272145"/>
            <a:ext cx="11213868" cy="429012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 and Travel Tribe is a software-based application/project in java application.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this project is how to manage the booking of hotels ,packages and check the sites.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all operations of the tourist is easy and accurate.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Login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User Profile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Update Information</a:t>
            </a:r>
          </a:p>
          <a:p>
            <a:pPr algn="just">
              <a:lnSpc>
                <a:spcPct val="11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Role based rights</a:t>
            </a:r>
          </a:p>
          <a:p>
            <a:pPr algn="just">
              <a:lnSpc>
                <a:spcPct val="11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8F8E1-5F64-4EC9-A14B-BD8FCEBA4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F23DF-38D4-480F-A377-F1207446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2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E693-CCCA-44B6-B1CD-60C1874A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Administrator Module: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21F0-1983-46A5-B6CD-1BDEA61E5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322945"/>
            <a:ext cx="8596668" cy="4881418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 this module is to add the route information, bus information, train information, train information, flite information, tour packages, travel packages, bus seat details etc.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manage user information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update information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Manage Trips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Manage hotels, Bookings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MODULE:- in this module we provide accommodation for customers during their Tours.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Registration (AS User)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REGISTRATION (AS Hotel)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Search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C3181-47C9-4A95-AC4B-579820E7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B51DF-65A5-4DAD-AB03-2B5DD9A1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0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471C-D221-42F9-ACC8-33F6A603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1164"/>
          </a:xfrm>
        </p:spPr>
        <p:txBody>
          <a:bodyPr>
            <a:normAutofit/>
          </a:bodyPr>
          <a:lstStyle/>
          <a:p>
            <a:r>
              <a:rPr lang="en-US" dirty="0"/>
              <a:t>Transportation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6E48-979F-4D04-B580-2395E6EA7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50910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Module – in this package module users can view different tour packages for tourist.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Module:- in this module tourists can pay payment through online banking etc.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Module:- Route module provides the path/route information and exact location for tourists.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00B6-EA8C-4EA8-B7AC-0BCA1064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61CE6-E09D-4693-B215-442DFCAA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37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95" y="2289555"/>
            <a:ext cx="11092464" cy="456844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:-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2" indent="-342900">
              <a:tabLst>
                <a:tab pos="661035" algn="l"/>
              </a:tabLst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Specification: -Processor Intel Pentium V or higher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2" indent="-342900">
              <a:tabLst>
                <a:tab pos="661035" algn="l"/>
              </a:tabLst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Speed: -1.7 GHz or more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System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Bus: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-64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bits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RAM: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</a:t>
            </a:r>
            <a:r>
              <a:rPr lang="en-US" sz="26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4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GB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HDD: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</a:t>
            </a:r>
            <a:r>
              <a:rPr lang="en-US" sz="26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512 SSD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2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Monitor: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-LCD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Monitor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Keyboard:</a:t>
            </a:r>
            <a:r>
              <a:rPr lang="en-US" sz="2600" spc="-2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-Standard</a:t>
            </a:r>
            <a:r>
              <a:rPr lang="en-US" sz="2600" spc="-3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keyboard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Mouse: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-Compatible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mouse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203200" marR="0">
              <a:spcBef>
                <a:spcPts val="920"/>
              </a:spcBef>
              <a:spcAft>
                <a:spcPts val="0"/>
              </a:spcAft>
            </a:pP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Software</a:t>
            </a:r>
            <a:r>
              <a:rPr lang="en-US" sz="26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Requirements:</a:t>
            </a:r>
            <a:endParaRPr lang="en-IN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>
              <a:spcBef>
                <a:spcPts val="93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Operating</a:t>
            </a:r>
            <a:r>
              <a:rPr lang="en-US" sz="2600" spc="-2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System: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-Windows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10,11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Software: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-Microsoft</a:t>
            </a:r>
            <a:r>
              <a:rPr lang="en-US" sz="2600" spc="-3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SQL</a:t>
            </a:r>
            <a:r>
              <a:rPr lang="en-US" sz="2600" spc="-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Server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1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Front</a:t>
            </a:r>
            <a:r>
              <a:rPr lang="en-US" sz="2600" spc="-3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End: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-Java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core/swings</a:t>
            </a:r>
            <a:r>
              <a:rPr lang="en-US" sz="2600" spc="-1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(NetBeans)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1143000" marR="0" lvl="2" indent="-228600">
              <a:spcBef>
                <a:spcPts val="13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661035" algn="l"/>
              </a:tabLst>
            </a:pP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Back</a:t>
            </a:r>
            <a:r>
              <a:rPr lang="en-US" sz="2600" spc="-1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26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End: -My SQL</a:t>
            </a:r>
            <a:endParaRPr lang="en-IN" sz="26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837-C904-49CE-8701-8770B3C04E12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36512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74853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29167E-6 0 L 2.29167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45833E-6 -3.7037E-6 L 1.45833E-6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29167E-6 0 L -2.29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33333E-6 3.7037E-6 L -3.33333E-6 -0.07223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77556E-17 -4.07407E-6 L 2.77556E-17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70833E-6 -3.7037E-7 L -2.70833E-6 -0.07222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5E-6 3.33333E-6 L -2.5E-6 -0.07223 " pathEditMode="relative" rAng="0" ptsTypes="AA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-2.96296E-6 L -4.375E-6 -0.07222 " pathEditMode="relative" rAng="0" ptsTypes="AA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16667E-6 7.40741E-7 L -4.16667E-6 -0.07222 " pathEditMode="relative" rAng="0" ptsTypes="AA">
                                      <p:cBhvr>
                                        <p:cTn id="5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66667E-6 -2.96296E-6 L 1.66667E-6 -0.07222 " pathEditMode="relative" rAng="0" ptsTypes="AA">
                                      <p:cBhvr>
                                        <p:cTn id="6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5E-6 7.40741E-7 L 5E-6 -0.07222 " pathEditMode="relative" rAng="0" ptsTypes="AA">
                                      <p:cBhvr>
                                        <p:cTn id="6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5E-6 4.44444E-6 L -2.5E-6 -0.07223 " pathEditMode="relative" rAng="0" ptsTypes="AA">
                                      <p:cBhvr>
                                        <p:cTn id="7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6DE7-6D61-4258-9436-B7CA6A4B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278469"/>
            <a:ext cx="8825659" cy="70696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DESIGN</a:t>
            </a:r>
            <a:br>
              <a:rPr lang="en-IN" sz="28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28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700" b="1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27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.1 </a:t>
            </a:r>
            <a:r>
              <a:rPr lang="en-IN" sz="2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Preliminary Design</a:t>
            </a:r>
            <a:br>
              <a:rPr lang="en-IN" sz="18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4966-49F4-4742-B569-21A2E58CD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design is the process of defining the elements of a system such as the architecture, modules and components, the different interfaces of those components and the data that goes through that system.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designing in terms of software engineering has its own value and importance in the system development process as a whole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FCBCF-65F7-439D-8539-5BE8EA16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3497E-3A2F-4C0F-9DAC-15D0B8E0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67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6357B7-058C-49E6-98E4-A66C4E4E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39774"/>
            <a:ext cx="8596668" cy="941389"/>
          </a:xfrm>
        </p:spPr>
        <p:txBody>
          <a:bodyPr>
            <a:normAutofit fontScale="90000"/>
          </a:bodyPr>
          <a:lstStyle/>
          <a:p>
            <a:r>
              <a:rPr lang="en-IN" sz="3200" b="1" i="0" u="none" strike="noStrike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</a:rPr>
              <a:t>1.1(A) UML Diagram</a:t>
            </a:r>
            <a:br>
              <a:rPr lang="en-IN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IN" sz="2400" b="1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</a:rPr>
              <a:t>Use Case Diagrams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it is used for design the behaviour of a system.</a:t>
            </a:r>
            <a:b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Actor/Relation	/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Generalizition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/system use case.</a:t>
            </a:r>
            <a:endParaRPr lang="en-IN" sz="3200" dirty="0"/>
          </a:p>
        </p:txBody>
      </p:sp>
      <p:pic>
        <p:nvPicPr>
          <p:cNvPr id="13" name="Content Placeholder 12" descr="A diagram of a diagram&#10;&#10;Description automatically generated">
            <a:extLst>
              <a:ext uri="{FF2B5EF4-FFF2-40B4-BE49-F238E27FC236}">
                <a16:creationId xmlns:a16="http://schemas.microsoft.com/office/drawing/2014/main" id="{21CEBC7B-C552-4A94-9C84-75244CBC1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44" y="2252255"/>
            <a:ext cx="7192048" cy="4605745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543A5-9D2E-4F49-8263-F5FDF7C6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AF37-48D4-4DD8-B33A-2300BA14FA57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3407D-7F1C-47A8-AB0C-48E7DD26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0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9FAF-9798-4E66-8C22-0C5217A1B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47" y="744761"/>
            <a:ext cx="8662798" cy="95934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Diagram</a:t>
            </a:r>
            <a:r>
              <a:rPr lang="en-US" sz="1600" dirty="0"/>
              <a:t>: </a:t>
            </a:r>
            <a:br>
              <a:rPr lang="en-US" sz="1600" dirty="0"/>
            </a:br>
            <a:r>
              <a:rPr lang="en-US" sz="1600" dirty="0"/>
              <a:t>1</a:t>
            </a:r>
            <a:r>
              <a:rPr lang="en-US" dirty="0"/>
              <a:t>.</a:t>
            </a:r>
            <a:r>
              <a:rPr lang="en-US" sz="1800" dirty="0"/>
              <a:t>structure-based diagram/ should various components for project.</a:t>
            </a:r>
            <a:endParaRPr lang="en-IN" sz="1800" dirty="0"/>
          </a:p>
        </p:txBody>
      </p:sp>
      <p:pic>
        <p:nvPicPr>
          <p:cNvPr id="7" name="Content Placeholder 6" descr="A diagram of a computer&#10;&#10;Description automatically generated">
            <a:extLst>
              <a:ext uri="{FF2B5EF4-FFF2-40B4-BE49-F238E27FC236}">
                <a16:creationId xmlns:a16="http://schemas.microsoft.com/office/drawing/2014/main" id="{63A9AE3E-68E7-42AB-B979-453EE7464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06" y="2450012"/>
            <a:ext cx="10100529" cy="44079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A28FE-0149-4158-B226-125AA28D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C7525-431C-47FF-A2BF-470294F2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5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470A-7E90-44CF-8746-B23D2CB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261" y="709933"/>
            <a:ext cx="8825659" cy="1257411"/>
          </a:xfrm>
        </p:spPr>
        <p:txBody>
          <a:bodyPr>
            <a:normAutofit fontScale="90000"/>
          </a:bodyPr>
          <a:lstStyle/>
          <a:p>
            <a:r>
              <a:rPr lang="en-US" dirty="0"/>
              <a:t>DFD:</a:t>
            </a:r>
            <a:br>
              <a:rPr lang="en-US" dirty="0"/>
            </a:br>
            <a:r>
              <a:rPr lang="en-US" sz="1800" dirty="0"/>
              <a:t>1. Users can share their experience and for that they can give their feedback.</a:t>
            </a:r>
            <a:br>
              <a:rPr lang="en-US" sz="1800" dirty="0"/>
            </a:br>
            <a:r>
              <a:rPr lang="en-US" sz="1800" dirty="0"/>
              <a:t>2. users can book the tickets and for that they have to passes a Login process.</a:t>
            </a:r>
            <a:br>
              <a:rPr lang="en-US" sz="1800" dirty="0"/>
            </a:br>
            <a:r>
              <a:rPr lang="en-US" sz="1800" dirty="0"/>
              <a:t>3.process , source of sink , data store etc.</a:t>
            </a:r>
            <a:br>
              <a:rPr lang="en-US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72D1-FFAB-47AF-A48F-AED58C38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5693" y="6041362"/>
            <a:ext cx="20213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F805169-8463-4C50-8CC5-EA33AE97306C}" type="datetime1">
              <a:rPr lang="en-US" smtClean="0"/>
              <a:pPr>
                <a:spcAft>
                  <a:spcPts val="600"/>
                </a:spcAft>
              </a:pPr>
              <a:t>1/31/2025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E9D6F-D126-4E4B-9AD6-C558CEB6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D6522A0-357C-442A-885E-F6AB171250C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17" name="Picture 16" descr="A diagram of a pink circle with black text&#10;&#10;Description automatically generated">
            <a:extLst>
              <a:ext uri="{FF2B5EF4-FFF2-40B4-BE49-F238E27FC236}">
                <a16:creationId xmlns:a16="http://schemas.microsoft.com/office/drawing/2014/main" id="{F1E1630B-A1D1-4581-A8A2-311370BB6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693" y="3691483"/>
            <a:ext cx="5668166" cy="2715004"/>
          </a:xfrm>
          <a:prstGeom prst="rect">
            <a:avLst/>
          </a:prstGeom>
        </p:spPr>
      </p:pic>
      <p:pic>
        <p:nvPicPr>
          <p:cNvPr id="19" name="Picture 18" descr="A diagram of a user&#10;&#10;Description automatically generated">
            <a:extLst>
              <a:ext uri="{FF2B5EF4-FFF2-40B4-BE49-F238E27FC236}">
                <a16:creationId xmlns:a16="http://schemas.microsoft.com/office/drawing/2014/main" id="{41921D93-EB2A-40CF-BD9A-BF9AB3C1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41" y="3742599"/>
            <a:ext cx="517279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7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A8C4-41D6-4ED4-AD04-624FF524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FE76F-38DF-423D-B67C-3908E3D8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 descr="A diagram of a pink oval with black text&#10;&#10;Description automatically generated">
            <a:extLst>
              <a:ext uri="{FF2B5EF4-FFF2-40B4-BE49-F238E27FC236}">
                <a16:creationId xmlns:a16="http://schemas.microsoft.com/office/drawing/2014/main" id="{8607AE34-47EF-448E-B3E2-FC0573698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15" y="295729"/>
            <a:ext cx="5172797" cy="2372056"/>
          </a:xfrm>
          <a:prstGeom prst="rect">
            <a:avLst/>
          </a:prstGeom>
        </p:spPr>
      </p:pic>
      <p:pic>
        <p:nvPicPr>
          <p:cNvPr id="9" name="Picture 8" descr="A diagram of a route&#10;&#10;Description automatically generated">
            <a:extLst>
              <a:ext uri="{FF2B5EF4-FFF2-40B4-BE49-F238E27FC236}">
                <a16:creationId xmlns:a16="http://schemas.microsoft.com/office/drawing/2014/main" id="{6B010DC2-BE2C-4863-93ED-6EFBD817D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12" y="147690"/>
            <a:ext cx="6506483" cy="3029373"/>
          </a:xfrm>
          <a:prstGeom prst="rect">
            <a:avLst/>
          </a:prstGeom>
        </p:spPr>
      </p:pic>
      <p:pic>
        <p:nvPicPr>
          <p:cNvPr id="11" name="Picture 10" descr="A diagram of a company&#10;&#10;Description automatically generated">
            <a:extLst>
              <a:ext uri="{FF2B5EF4-FFF2-40B4-BE49-F238E27FC236}">
                <a16:creationId xmlns:a16="http://schemas.microsoft.com/office/drawing/2014/main" id="{D09E6002-BDD3-432D-938E-683DD57C5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92" y="2886026"/>
            <a:ext cx="5365072" cy="341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5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A3BE-0849-427C-9E46-0467188D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498764"/>
            <a:ext cx="9315595" cy="1181869"/>
          </a:xfrm>
        </p:spPr>
        <p:txBody>
          <a:bodyPr/>
          <a:lstStyle/>
          <a:p>
            <a:r>
              <a:rPr lang="en-IN" sz="2400" b="1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24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.2 SCHEMA   DIAGRAM:</a:t>
            </a:r>
            <a:r>
              <a:rPr lang="en-IN" sz="24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IN" sz="18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1.Schema describes the logical view of entire data-base and it looks like skeleton of the database.</a:t>
            </a:r>
            <a:br>
              <a:rPr lang="en-IN" sz="18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database schema is the skeleton structure that represents the logical view of the entire database. It defines how the data is organized and how the relations among them are associated.</a:t>
            </a:r>
            <a:endParaRPr lang="en-IN" dirty="0"/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BD9C8D9C-C093-4916-A4BC-E5E8FA20C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64" y="2381830"/>
            <a:ext cx="9003595" cy="44201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AA364-1B9D-4D2B-93AB-FE22E789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2056-A3CB-483C-8A16-593EC9FD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7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A7C9-D5CF-43FF-AAD3-D9517758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52" y="617406"/>
            <a:ext cx="9367212" cy="1550989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b="1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IN" sz="18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.3 E R DIAGRAM:</a:t>
            </a:r>
            <a:br>
              <a:rPr lang="en-IN" sz="1800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 Diagram</a:t>
            </a: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stands for Entity Relationship Diagram, also known as ERD is a diagram that displays the relationship of entity sets stored in a database. In other words, ER diagrams help to explain the logical structure of databases. ER diagrams are created based on three basic concepts: entities, attributes and relationships. </a:t>
            </a:r>
            <a:endParaRPr lang="en-IN" dirty="0"/>
          </a:p>
        </p:txBody>
      </p:sp>
      <p:pic>
        <p:nvPicPr>
          <p:cNvPr id="7" name="Content Placeholder 6" descr="A diagram of a hotel&#10;&#10;Description automatically generated">
            <a:extLst>
              <a:ext uri="{FF2B5EF4-FFF2-40B4-BE49-F238E27FC236}">
                <a16:creationId xmlns:a16="http://schemas.microsoft.com/office/drawing/2014/main" id="{93B0651F-1BC9-474F-A281-AFC4F9211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62" y="2650590"/>
            <a:ext cx="6808520" cy="422126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273AA-56C5-4A41-B163-2827761D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16935-562B-4080-9F51-D665793A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71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32A6-688F-4EAF-A42A-4E4B99AE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05169-8463-4C50-8CC5-EA33AE97306C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7E05-7091-4ACF-9BE6-10067797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EB0D08E-00D2-4169-98B1-AA719D42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" y="41566"/>
            <a:ext cx="5181600" cy="2896179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B06C414F-AA41-4A8A-94BC-AFC6B4935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2" y="3184577"/>
            <a:ext cx="5059955" cy="33594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FD4538-4D42-4A7E-9088-8C9D56074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17181"/>
            <a:ext cx="5631543" cy="477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459" y="2349657"/>
            <a:ext cx="10515600" cy="3880022"/>
          </a:xfrm>
        </p:spPr>
        <p:txBody>
          <a:bodyPr>
            <a:normAutofit/>
          </a:bodyPr>
          <a:lstStyle/>
          <a:p>
            <a:pPr marL="381000" marR="276225" indent="456565" algn="just">
              <a:spcBef>
                <a:spcPts val="100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</a:t>
            </a:r>
            <a:r>
              <a:rPr lang="en-US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</a:t>
            </a:r>
            <a:r>
              <a:rPr lang="en-US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</a:t>
            </a:r>
            <a:r>
              <a:rPr lang="en-US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</a:t>
            </a:r>
            <a:r>
              <a:rPr lang="en-US" sz="24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done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24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TTT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here.</a:t>
            </a:r>
            <a:r>
              <a:rPr lang="en-US" sz="2400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 software which helps the user to work with the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adding hotels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paying bills,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managing different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DETAILS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etc.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81000" marR="275590" indent="456565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software reduces the amount of manual data entry and gives greater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efficiency.</a:t>
            </a:r>
            <a:r>
              <a:rPr lang="en-US" sz="24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4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</a:t>
            </a:r>
            <a:r>
              <a:rPr lang="en-US" sz="24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Interface</a:t>
            </a:r>
            <a:r>
              <a:rPr lang="en-US" sz="24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4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z="24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4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very</a:t>
            </a:r>
            <a:r>
              <a:rPr lang="en-US" sz="24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friendly</a:t>
            </a:r>
            <a:r>
              <a:rPr lang="en-US" sz="24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4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</a:t>
            </a:r>
            <a:r>
              <a:rPr lang="en-US" sz="24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24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easily</a:t>
            </a:r>
            <a:r>
              <a:rPr lang="en-US" sz="24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z="24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24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anyone.</a:t>
            </a:r>
          </a:p>
          <a:p>
            <a:pPr marL="381000" marR="27559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81000" marR="275590" indent="456565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also decreases the amount of time taken to write details and other modules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0144-9F8D-4761-8D87-5161886308C9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31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79167E-6 -2.59259E-6 L -4.79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79167E-6 -2.96296E-6 L -4.79167E-6 -0.07222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99159" y="3019141"/>
            <a:ext cx="10744200" cy="1505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>
              <a:spcBef>
                <a:spcPts val="94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838835" algn="l"/>
              </a:tabLst>
            </a:pPr>
            <a:r>
              <a:rPr lang="en-US" sz="1800" u="sng" dirty="0">
                <a:solidFill>
                  <a:srgbClr val="0462C1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  <a:hlinkClick r:id="rId2"/>
              </a:rPr>
              <a:t>http://www.github.com</a:t>
            </a:r>
            <a:endParaRPr lang="en-IN" sz="18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marR="0" lvl="0" indent="-342900">
              <a:spcBef>
                <a:spcPts val="11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838835" algn="l"/>
              </a:tabLst>
            </a:pP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  <a:hlinkClick r:id="rId3"/>
              </a:rPr>
              <a:t>https://www.youtube.com/watch?v=iWitVuW2D1o&amp;t=4s</a:t>
            </a:r>
            <a:endParaRPr lang="en-IN" sz="18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marR="0" lvl="0" indent="-342900">
              <a:spcBef>
                <a:spcPts val="115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838835" algn="l"/>
              </a:tabLst>
            </a:pPr>
            <a:r>
              <a:rPr lang="en-US" sz="1800" u="sng" dirty="0">
                <a:solidFill>
                  <a:srgbClr val="0462C1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  <a:hlinkClick r:id="rId4"/>
              </a:rPr>
              <a:t>www.stackoverflow.com</a:t>
            </a:r>
            <a:endParaRPr lang="en-IN" sz="18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342900" marR="0" lvl="0" indent="-342900">
              <a:spcBef>
                <a:spcPts val="13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"/>
              <a:tabLst>
                <a:tab pos="838835" algn="l"/>
              </a:tabLst>
            </a:pPr>
            <a:r>
              <a:rPr lang="en-US" sz="1800" u="sng" dirty="0">
                <a:solidFill>
                  <a:srgbClr val="0462C1"/>
                </a:solidFill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  <a:hlinkClick r:id="rId5"/>
              </a:rPr>
              <a:t>www.google.com</a:t>
            </a:r>
            <a:endParaRPr lang="en-IN" sz="1800" dirty="0">
              <a:effectLst/>
              <a:latin typeface="Times New Roman" panose="0202060305040502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r>
              <a:rPr lang="en-US" sz="1800" u="sng" dirty="0">
                <a:solidFill>
                  <a:srgbClr val="0462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http://www.javatpoint.com/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673F3-076D-49BD-A186-E48AF9CC6E65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94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" y="2889250"/>
            <a:ext cx="12172950" cy="1325563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C046-D61F-4FB5-9F26-B51E6F79998F}" type="datetime1">
              <a:rPr lang="en-US" smtClean="0"/>
              <a:t>1/31/2025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22A0-357C-442A-885E-F6AB171250C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12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7261</TotalTime>
  <Words>1079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Century Gothic</vt:lpstr>
      <vt:lpstr>Roboto</vt:lpstr>
      <vt:lpstr>Times New Roman</vt:lpstr>
      <vt:lpstr>Wingdings</vt:lpstr>
      <vt:lpstr>Wingdings 3</vt:lpstr>
      <vt:lpstr>Ion Boardroom</vt:lpstr>
      <vt:lpstr>PowerPoint Presentation</vt:lpstr>
      <vt:lpstr>Content</vt:lpstr>
      <vt:lpstr>PowerPoint Presentation</vt:lpstr>
      <vt:lpstr>Purpose</vt:lpstr>
      <vt:lpstr>Objective</vt:lpstr>
      <vt:lpstr>Project Scope</vt:lpstr>
      <vt:lpstr>Requirement gathering Analysis 1.Requirement Report</vt:lpstr>
      <vt:lpstr>Administrator Module:</vt:lpstr>
      <vt:lpstr>Transportation Module</vt:lpstr>
      <vt:lpstr>PowerPoint Presentation</vt:lpstr>
      <vt:lpstr>SYSTEM DESIGN  1.1 Preliminary Design  </vt:lpstr>
      <vt:lpstr>1.1(A) UML Diagram Use Case Diagrams: it is used for design the behaviour of a system. Actor/Relation /Generalizition/system use case.</vt:lpstr>
      <vt:lpstr>Class Diagram:  1.structure-based diagram/ should various components for project.</vt:lpstr>
      <vt:lpstr>DFD: 1. Users can share their experience and for that they can give their feedback. 2. users can book the tickets and for that they have to passes a Login process. 3.process , source of sink , data store etc. </vt:lpstr>
      <vt:lpstr>PowerPoint Presentation</vt:lpstr>
      <vt:lpstr>1.2 SCHEMA   DIAGRAM:  1.Schema describes the logical view of entire data-base and it looks like skeleton of the database. A database schema is the skeleton structure that represents the logical view of the entire database. It defines how the data is organized and how the relations among them are associated.</vt:lpstr>
      <vt:lpstr>1.3 E R DIAGRAM: ER Diagram stands for Entity Relationship Diagram, also known as ERD is a diagram that displays the relationship of entity sets stored in a database. In other words, ER diagrams help to explain the logical structure of databases. ER diagrams are created based on three basic concepts: entities, attributes and relationships. </vt:lpstr>
      <vt:lpstr>PowerPoint Presentation</vt:lpstr>
      <vt:lpstr>Conclusion</vt:lpstr>
      <vt:lpstr>References</vt:lpstr>
      <vt:lpstr>THANK YOU!!!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</dc:title>
  <dc:creator>Shivam Chaudhary</dc:creator>
  <cp:lastModifiedBy>sanjay chahar</cp:lastModifiedBy>
  <cp:revision>855</cp:revision>
  <dcterms:created xsi:type="dcterms:W3CDTF">2017-02-09T06:42:02Z</dcterms:created>
  <dcterms:modified xsi:type="dcterms:W3CDTF">2025-01-31T09:06:00Z</dcterms:modified>
</cp:coreProperties>
</file>